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70" r:id="rId6"/>
    <p:sldId id="271" r:id="rId7"/>
    <p:sldId id="272" r:id="rId8"/>
    <p:sldId id="258" r:id="rId9"/>
    <p:sldId id="273" r:id="rId10"/>
    <p:sldId id="274" r:id="rId11"/>
    <p:sldId id="275" r:id="rId12"/>
    <p:sldId id="276" r:id="rId13"/>
    <p:sldId id="261" r:id="rId14"/>
    <p:sldId id="262" r:id="rId15"/>
    <p:sldId id="267" r:id="rId16"/>
    <p:sldId id="266" r:id="rId17"/>
    <p:sldId id="265" r:id="rId18"/>
    <p:sldId id="263" r:id="rId19"/>
    <p:sldId id="264" r:id="rId2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A81B"/>
    <a:srgbClr val="6091BA"/>
    <a:srgbClr val="A0CC3A"/>
    <a:srgbClr val="8D6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5"/>
    <p:restoredTop sz="94726"/>
  </p:normalViewPr>
  <p:slideViewPr>
    <p:cSldViewPr snapToGrid="0" showGuides="1">
      <p:cViewPr varScale="1">
        <p:scale>
          <a:sx n="159" d="100"/>
          <a:sy n="159" d="100"/>
        </p:scale>
        <p:origin x="162" y="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hyperlink" Target="https://www.youtube.com/watch?v=v5MR5JnKcZI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91BA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476375" y="1174115"/>
            <a:ext cx="40747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US" sz="4800"/>
              <a:t>Python Programming Introduction</a:t>
            </a:r>
            <a:endParaRPr lang="en-PH" altLang="en-US" sz="4800"/>
          </a:p>
        </p:txBody>
      </p:sp>
      <p:pic>
        <p:nvPicPr>
          <p:cNvPr id="4" name="Picture 3" descr="A close up of a logo&#10;&#10;Description automatically generated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36" y="1592855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Python?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is a popular high-level programming language used in various applications.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Known for its simple syntax, making it easy to learn and use.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be used for basic tasks (e.g., plotting, automation) to advanced tasks (e.g., machine learning, web development).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 descr="A close up of a logo&#10;&#10;Description automatically generated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120" y="3878580"/>
            <a:ext cx="1084580" cy="107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Learn Python?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to read and write (beginner-friendly).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Large community and plenty of resources.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Cross-platform (works on Windows, macOS, Linux).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by top companies (Google, Netflix, NASA, etc.).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 descr="A close up of a logo&#10;&#10;Description automatically generated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120" y="3878580"/>
            <a:ext cx="1084580" cy="107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in the Real World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Development → Django, Flask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Science &amp; AI → Pandas, TensorFlow, Scikit-learn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Automation → Scripts, bots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Game Development → Pygame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IoT &amp; Robotics → Raspberry Pi, MicroPython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 descr="A close up of a logo&#10;&#10;Description automatically generated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120" y="3878580"/>
            <a:ext cx="1084580" cy="107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Features of Python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Interpreted → No need to compile before running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Dynamically Typed → No need to declare variable types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Extensive Libraries → Thousands of pre-built packages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Open-source &amp; Free</a:t>
            </a:r>
            <a:endParaRPr lang="en-US" alt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 descr="A close up of a logo&#10;&#10;Description automatically generated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120" y="3878580"/>
            <a:ext cx="1084580" cy="107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Variables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Variables are names that store values in a program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Think of them as containers or labeled boxes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They make data reusable and easy to work with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Variables in Python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No need to declare type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Use = to assign a value</a:t>
            </a:r>
            <a:endParaRPr lang="en-US" altLang="en-US" dirty="0"/>
          </a:p>
          <a:p>
            <a:endParaRPr lang="en-US" altLang="en-US" dirty="0"/>
          </a:p>
          <a:p>
            <a:r>
              <a:rPr lang="en-PH" altLang="en-US" dirty="0"/>
              <a:t>Example:</a:t>
            </a:r>
            <a:endParaRPr lang="en-PH" altLang="en-US" dirty="0"/>
          </a:p>
          <a:p>
            <a:endParaRPr lang="en-PH" altLang="en-US" dirty="0"/>
          </a:p>
          <a:p>
            <a:pPr marL="114300" indent="0">
              <a:buNone/>
            </a:pPr>
            <a:r>
              <a:rPr lang="en-PH" altLang="en-US" dirty="0"/>
              <a:t>                                                    </a:t>
            </a:r>
            <a:r>
              <a:rPr lang="en-US" altLang="en-US" dirty="0"/>
              <a:t>name = "Alice"</a:t>
            </a:r>
            <a:endParaRPr lang="en-US" altLang="en-US" dirty="0"/>
          </a:p>
          <a:p>
            <a:pPr marL="114300" indent="0">
              <a:buNone/>
            </a:pPr>
            <a:r>
              <a:rPr lang="en-PH" altLang="en-US" dirty="0"/>
              <a:t>                                                    </a:t>
            </a:r>
            <a:r>
              <a:rPr lang="en-US" altLang="en-US" dirty="0"/>
              <a:t>age = 20</a:t>
            </a:r>
            <a:endParaRPr lang="en-US" altLang="en-US" dirty="0"/>
          </a:p>
          <a:p>
            <a:pPr marL="114300" indent="0">
              <a:buNone/>
            </a:pPr>
            <a:r>
              <a:rPr lang="en-PH" altLang="en-US" dirty="0"/>
              <a:t>                                                    </a:t>
            </a:r>
            <a:r>
              <a:rPr lang="en-US" altLang="en-US" dirty="0"/>
              <a:t>height = 5.6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Variable Naming Rules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Must start with a letter or underscore _</a:t>
            </a:r>
            <a:r>
              <a:rPr lang="en-PH" altLang="en-US" dirty="0"/>
              <a:t>   name or _name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Can’t start with a number</a:t>
            </a:r>
            <a:r>
              <a:rPr lang="en-PH" altLang="en-US" dirty="0"/>
              <a:t> = 1name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No spaces (use _ instead)</a:t>
            </a:r>
            <a:r>
              <a:rPr lang="en-PH" altLang="en-US" dirty="0"/>
              <a:t> = first_name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Case-sensitive (Age ≠ age)</a:t>
            </a:r>
            <a:endParaRPr lang="en-US" altLang="en-US" dirty="0"/>
          </a:p>
          <a:p>
            <a:endParaRPr lang="en-US" altLang="en-US" dirty="0"/>
          </a:p>
          <a:p>
            <a:r>
              <a:rPr lang="en-PH" altLang="en-US" dirty="0"/>
              <a:t>Camel case - lastName</a:t>
            </a:r>
            <a:endParaRPr lang="en-PH" altLang="en-US" dirty="0"/>
          </a:p>
          <a:p>
            <a:r>
              <a:rPr lang="en-PH" altLang="en-US" dirty="0"/>
              <a:t>snake case - lastname</a:t>
            </a:r>
            <a:endParaRPr lang="en-PH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Changing Variable Values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Variables can be updated anytime</a:t>
            </a:r>
            <a:endParaRPr lang="en-US" altLang="en-US" dirty="0"/>
          </a:p>
          <a:p>
            <a:endParaRPr lang="en-US" altLang="en-US" dirty="0"/>
          </a:p>
          <a:p>
            <a:r>
              <a:rPr lang="en-PH" altLang="en-US" dirty="0"/>
              <a:t>Example</a:t>
            </a:r>
            <a:endParaRPr lang="en-PH" altLang="en-US" dirty="0"/>
          </a:p>
          <a:p>
            <a:endParaRPr lang="en-PH" altLang="en-US" dirty="0"/>
          </a:p>
          <a:p>
            <a:pPr marL="114300" indent="0">
              <a:buNone/>
            </a:pPr>
            <a:r>
              <a:rPr lang="en-PH" altLang="en-US" dirty="0"/>
              <a:t>                                                           </a:t>
            </a:r>
            <a:r>
              <a:rPr lang="en-US" altLang="en-US" dirty="0"/>
              <a:t>x = 10</a:t>
            </a:r>
            <a:endParaRPr lang="en-US" altLang="en-US" dirty="0"/>
          </a:p>
          <a:p>
            <a:pPr marL="114300" indent="0">
              <a:buNone/>
            </a:pPr>
            <a:r>
              <a:rPr lang="en-PH" altLang="en-US" dirty="0"/>
              <a:t>                                                           </a:t>
            </a:r>
            <a:r>
              <a:rPr lang="en-US" altLang="en-US" dirty="0"/>
              <a:t>x = 25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Multiple Variables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Assigning same value:</a:t>
            </a:r>
            <a:endParaRPr lang="en-US" altLang="en-US" dirty="0"/>
          </a:p>
          <a:p>
            <a:pPr marL="114300" indent="0">
              <a:buNone/>
            </a:pPr>
            <a:endParaRPr lang="en-US" altLang="en-US" dirty="0"/>
          </a:p>
          <a:p>
            <a:pPr marL="114300" indent="0">
              <a:buNone/>
            </a:pPr>
            <a:r>
              <a:rPr lang="en-PH" altLang="en-US" dirty="0"/>
              <a:t>                                                      </a:t>
            </a:r>
            <a:r>
              <a:rPr lang="en-US" altLang="en-US" dirty="0"/>
              <a:t>a = b = c = 5</a:t>
            </a:r>
            <a:endParaRPr lang="en-US" altLang="en-US" dirty="0"/>
          </a:p>
          <a:p>
            <a:pPr marL="114300" indent="0">
              <a:buNone/>
            </a:pPr>
            <a:endParaRPr lang="en-US" altLang="en-US" dirty="0"/>
          </a:p>
          <a:p>
            <a:r>
              <a:rPr lang="en-US" altLang="en-US" dirty="0"/>
              <a:t>Assigning different values:</a:t>
            </a:r>
            <a:endParaRPr lang="en-US" altLang="en-US" dirty="0"/>
          </a:p>
          <a:p>
            <a:endParaRPr lang="en-US" altLang="en-US" dirty="0"/>
          </a:p>
          <a:p>
            <a:pPr marL="114300" indent="0">
              <a:buNone/>
            </a:pPr>
            <a:r>
              <a:rPr lang="en-PH" altLang="en-US" dirty="0"/>
              <a:t>                                                     </a:t>
            </a:r>
            <a:r>
              <a:rPr lang="en-US" altLang="en-US" dirty="0"/>
              <a:t>x, y</a:t>
            </a:r>
            <a:r>
              <a:rPr lang="en-PH" altLang="en-US" dirty="0"/>
              <a:t>, z</a:t>
            </a:r>
            <a:r>
              <a:rPr lang="en-US" altLang="en-US" dirty="0"/>
              <a:t> = 1, 2</a:t>
            </a:r>
            <a:r>
              <a:rPr lang="en-PH" altLang="en-US" dirty="0"/>
              <a:t>, 3</a:t>
            </a:r>
            <a:endParaRPr lang="en-PH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Basic Syntax Rules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 Syntax </a:t>
            </a: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000" b="1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</a:t>
            </a:r>
            <a:r>
              <a:rPr lang="en-US" sz="1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...: </a:t>
            </a:r>
            <a:r>
              <a:rPr lang="en-US" sz="1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indicates that you are defining a new function. </a:t>
            </a:r>
            <a:endParaRPr lang="en-US" sz="1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000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function() </a:t>
            </a:r>
            <a:r>
              <a:rPr lang="en-US" sz="1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refers to the name of your function. By convention, this name is typically lowercase and represents a verb/action. </a:t>
            </a:r>
            <a:endParaRPr lang="en-US" sz="1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000" b="1" dirty="0" err="1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a,b</a:t>
            </a:r>
            <a:r>
              <a:rPr lang="en-US" sz="1000" b="1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refers to </a:t>
            </a:r>
            <a:r>
              <a:rPr lang="en-US" sz="1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parameters </a:t>
            </a:r>
            <a:r>
              <a:rPr lang="en-US" sz="1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(values or variables) that can be used within the statements of your function’s definition (......). If your function has no parameters, an empty parenthetical () is used. </a:t>
            </a:r>
            <a:endParaRPr lang="en-US" sz="1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1000" b="1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return</a:t>
            </a:r>
            <a:r>
              <a:rPr lang="en-US" sz="1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statement is an optional statement that will return a value for your function to your original call. </a:t>
            </a:r>
            <a:endParaRPr lang="en-US" sz="1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811780" y="377011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7" name="Picture 5" descr="page5image5462790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780" y="3429317"/>
            <a:ext cx="2857500" cy="138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178136" y="3691712"/>
            <a:ext cx="26727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</a:t>
            </a:r>
            <a:r>
              <a:rPr lang="en-US" altLang="en-US" sz="1600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6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  <a:r>
              <a:rPr lang="en-US" altLang="en-US" sz="1600" dirty="0">
                <a:solidFill>
                  <a:srgbClr val="4270C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altLang="en-US" sz="1600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a, b</a:t>
            </a:r>
            <a:r>
              <a:rPr lang="en-US" alt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): </a:t>
            </a:r>
            <a:endParaRPr lang="en-US" altLang="en-US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altLang="en-US" sz="1600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...... </a:t>
            </a:r>
            <a:endParaRPr lang="en-US" altLang="en-US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B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altLang="en-US" sz="1600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return</a:t>
            </a:r>
            <a:r>
              <a:rPr lang="en-US" altLang="en-US" sz="1600" dirty="0">
                <a:solidFill>
                  <a:srgbClr val="FFB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600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  <a:r>
              <a:rPr lang="en-US" altLang="en-US" sz="1600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</a:t>
            </a:r>
            <a:r>
              <a:rPr lang="en-US" altLang="en-US" sz="1600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endParaRPr lang="en-US" altLang="en-US" sz="1600" dirty="0">
              <a:solidFill>
                <a:srgbClr val="A0CC3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6000" dirty="0">
                <a:solidFill>
                  <a:schemeClr val="tx1"/>
                </a:solidFill>
                <a:latin typeface="Arial" panose="020B0604020202020204" pitchFamily="34" charset="0"/>
              </a:rPr>
              <a:t>    </a:t>
            </a: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Basic Syntax Rules (cont.)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Calling a function</a:t>
            </a: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 the function by referring to its name (</a:t>
            </a:r>
            <a:r>
              <a:rPr lang="en-US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function()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and by placing</a:t>
            </a:r>
            <a:b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any necessary arguments (</a:t>
            </a:r>
            <a:r>
              <a:rPr lang="en-US" b="1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1, 2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within the parenthesis separated by</a:t>
            </a:r>
            <a:b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commas. </a:t>
            </a:r>
            <a:r>
              <a:rPr lang="en-US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myValue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function(1, 2) </a:t>
            </a: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wish, you can set your function call equal to a variable (</a:t>
            </a:r>
            <a:r>
              <a:rPr lang="en-US" b="1" dirty="0" err="1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myValue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The value returned by the function will be assigned to your variable name. </a:t>
            </a: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  <p:pic>
        <p:nvPicPr>
          <p:cNvPr id="4097" name="Picture 1" descr="page5image546277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150" y="3502075"/>
            <a:ext cx="34417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57991" y="3850809"/>
            <a:ext cx="280606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myValue</a:t>
            </a:r>
            <a:r>
              <a:rPr lang="en-US" sz="1800" dirty="0">
                <a:solidFill>
                  <a:srgbClr val="FFB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= </a:t>
            </a:r>
            <a:r>
              <a:rPr lang="en-US" sz="18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  <a:r>
              <a:rPr lang="en-US" sz="1800" dirty="0">
                <a:solidFill>
                  <a:srgbClr val="4270C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800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1, 2</a:t>
            </a:r>
            <a:r>
              <a:rPr lang="en-US" sz="1800" dirty="0">
                <a:solidFill>
                  <a:srgbClr val="4270C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endParaRPr lang="en-US" sz="180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Common Data Types and Operators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type </a:t>
            </a:r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means of classifying a value and determining what operations can be performed on it. All objects have a data type. </a:t>
            </a:r>
            <a:endParaRPr lang="en-US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Operators </a:t>
            </a:r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are symbols used carry out specific functions/computations. </a:t>
            </a:r>
            <a:endParaRPr lang="en-US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1"/>
              </a:rPr>
              <a:t>https://www.youtube.com/watch?v=v5MR5JnKcZI</a:t>
            </a:r>
            <a:endParaRPr lang="en-US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  <p:pic>
        <p:nvPicPr>
          <p:cNvPr id="6145" name="Picture 1" descr="page6image609217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05" y="2622583"/>
            <a:ext cx="3080084" cy="207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page6image6092569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628273"/>
            <a:ext cx="3404937" cy="207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9578"/>
            <a:ext cx="8520600" cy="572700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Input/Output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415332" cy="3416400"/>
          </a:xfrm>
        </p:spPr>
        <p:txBody>
          <a:bodyPr/>
          <a:lstStyle/>
          <a:p>
            <a:r>
              <a:rPr lang="en-US" sz="11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 functions </a:t>
            </a:r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1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input()</a:t>
            </a:r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allow users of a program to place values into programming code. </a:t>
            </a:r>
            <a:endParaRPr lang="en-US" sz="11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parameter for an input function is called a </a:t>
            </a:r>
            <a:r>
              <a:rPr lang="en-US" sz="11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prompt</a:t>
            </a:r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This is a string (this can be indicated by “” or ‘’) such as </a:t>
            </a:r>
            <a:r>
              <a:rPr lang="en-US" sz="11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“Enter a number: “ </a:t>
            </a:r>
            <a:endParaRPr lang="en-US" sz="11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user’s response to the prompt will be returned to the input statement call as a string. To use this value as any other data type, it must be converted with another function (</a:t>
            </a:r>
            <a:r>
              <a:rPr lang="en-US" sz="11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int()</a:t>
            </a:r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</a:t>
            </a:r>
            <a:endParaRPr lang="en-US" sz="11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 functions </a:t>
            </a:r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1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print()</a:t>
            </a:r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allow programs to output strings to users on a given interface. </a:t>
            </a:r>
            <a:endParaRPr lang="en-US" sz="11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1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parameter of this function is of any type. All types will automatically be converted to strings. </a:t>
            </a:r>
            <a:endParaRPr lang="en-US" sz="11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  <p:pic>
        <p:nvPicPr>
          <p:cNvPr id="7169" name="Picture 1" descr="page7image5453094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032" y="1843062"/>
            <a:ext cx="3388397" cy="14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727032" y="2094695"/>
            <a:ext cx="4572000" cy="73723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xString</a:t>
            </a:r>
            <a:r>
              <a:rPr lang="en-US" alt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</a:t>
            </a:r>
            <a:r>
              <a:rPr lang="en-US" altLang="en-US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int</a:t>
            </a:r>
            <a:r>
              <a:rPr lang="en-US" altLang="en-US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(</a:t>
            </a:r>
            <a:r>
              <a:rPr lang="en-US" altLang="en-US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input(</a:t>
            </a:r>
            <a:r>
              <a:rPr lang="en-US" altLang="en-US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“Enter a number: “</a:t>
            </a:r>
            <a:r>
              <a:rPr lang="en-US" altLang="en-US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PH" altLang="en-US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US" altLang="en-US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en-US" altLang="en-US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y=x</a:t>
            </a:r>
            <a:r>
              <a:rPr lang="en-PH" alt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String</a:t>
            </a:r>
            <a:r>
              <a:rPr lang="en-US" alt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+2</a:t>
            </a:r>
            <a:br>
              <a:rPr lang="en-US" alt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altLang="en-US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</a:t>
            </a:r>
            <a:r>
              <a:rPr lang="en-US" alt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(y</a:t>
            </a:r>
            <a:r>
              <a:rPr lang="en-US" altLang="en-US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 altLang="en-US" sz="200" dirty="0">
              <a:solidFill>
                <a:srgbClr val="F8A81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If-else Statements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740184" cy="3416400"/>
          </a:xfrm>
        </p:spPr>
        <p:txBody>
          <a:bodyPr/>
          <a:lstStyle/>
          <a:p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If-else statements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allow programmers to adapt the function of their code based on a given condition.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a given condition (i.e</a:t>
            </a:r>
            <a:r>
              <a:rPr lang="en-US" sz="12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200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 % 2 == 0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is true, then the statements following the if statement (</a:t>
            </a:r>
            <a:r>
              <a:rPr lang="en-US" sz="1200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will be executed. If the condition is false, the statements following the else statement (</a:t>
            </a:r>
            <a:r>
              <a:rPr lang="en-US" sz="1200" b="1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else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will be executed.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condition is tested using the Boolean operators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==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(is equal to),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!=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(is not equal to),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(used to test multiple conditions), and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(used to test if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LEAST ONE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condition is true).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Additionally,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else-if statements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200" b="1" dirty="0" err="1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elif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can be used to provide unique coding statements for multiple conditions.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  <p:pic>
        <p:nvPicPr>
          <p:cNvPr id="8196" name="Picture 4" descr="page8image5490003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884" y="1576137"/>
            <a:ext cx="3022953" cy="241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121047" y="1879252"/>
            <a:ext cx="30229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solidFill>
                  <a:schemeClr val="tx1"/>
                </a:solidFill>
                <a:latin typeface="Calibri" panose="020F0502020204030204" pitchFamily="34" charset="0"/>
              </a:rPr>
              <a:t>xString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 = input(“Enter a number: “) 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x = int(</a:t>
            </a:r>
            <a:r>
              <a:rPr lang="en-US" altLang="en-US" dirty="0" err="1">
                <a:solidFill>
                  <a:schemeClr val="tx1"/>
                </a:solidFill>
                <a:latin typeface="Calibri" panose="020F0502020204030204" pitchFamily="34" charset="0"/>
              </a:rPr>
              <a:t>xString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) </a:t>
            </a:r>
            <a:endParaRPr lang="en-US" altLang="en-US" sz="4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F8A81B"/>
                </a:solidFill>
                <a:latin typeface="Calibri" panose="020F0502020204030204" pitchFamily="34" charset="0"/>
              </a:rPr>
              <a:t>if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rgbClr val="6091BA"/>
                </a:solidFill>
                <a:latin typeface="Calibri" panose="020F0502020204030204" pitchFamily="34" charset="0"/>
              </a:rPr>
              <a:t>x % 2 == 0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</a:rPr>
              <a:t>:</a:t>
            </a:r>
            <a:b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</a:rPr>
              <a:t>    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print(“This is an even number”) </a:t>
            </a:r>
            <a:endParaRPr lang="en-US" altLang="en-US" sz="4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solidFill>
                  <a:srgbClr val="A0CC3A"/>
                </a:solidFill>
                <a:latin typeface="Calibri" panose="020F0502020204030204" pitchFamily="34" charset="0"/>
              </a:rPr>
              <a:t>elif</a:t>
            </a:r>
            <a:r>
              <a:rPr lang="en-US" altLang="en-US" dirty="0">
                <a:solidFill>
                  <a:srgbClr val="6DAA44"/>
                </a:solidFill>
                <a:latin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rgbClr val="6091BA"/>
                </a:solidFill>
                <a:latin typeface="Calibri" panose="020F0502020204030204" pitchFamily="34" charset="0"/>
              </a:rPr>
              <a:t>x == 0</a:t>
            </a:r>
            <a:r>
              <a:rPr lang="en-US" altLang="en-US" dirty="0">
                <a:solidFill>
                  <a:srgbClr val="6DAA44"/>
                </a:solidFill>
                <a:latin typeface="Calibri" panose="020F0502020204030204" pitchFamily="34" charset="0"/>
              </a:rPr>
              <a:t>:</a:t>
            </a:r>
            <a:br>
              <a:rPr lang="en-US" altLang="en-US" dirty="0">
                <a:solidFill>
                  <a:srgbClr val="6DAA44"/>
                </a:solidFill>
                <a:latin typeface="Calibri" panose="020F0502020204030204" pitchFamily="34" charset="0"/>
              </a:rPr>
            </a:br>
            <a:r>
              <a:rPr lang="en-US" altLang="en-US" dirty="0">
                <a:solidFill>
                  <a:srgbClr val="6DAA44"/>
                </a:solidFill>
                <a:latin typeface="Calibri" panose="020F0502020204030204" pitchFamily="34" charset="0"/>
              </a:rPr>
              <a:t>    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print(“This number equals 0”) </a:t>
            </a:r>
            <a:endParaRPr lang="en-US" altLang="en-US" sz="4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8D64AA"/>
                </a:solidFill>
                <a:latin typeface="Calibri" panose="020F0502020204030204" pitchFamily="34" charset="0"/>
              </a:rPr>
              <a:t>else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: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    print(“This is an odd number”)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Loops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254710" cy="3416400"/>
          </a:xfrm>
        </p:spPr>
        <p:txBody>
          <a:bodyPr/>
          <a:lstStyle/>
          <a:p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loops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 the same task (iterate) for the number of times specified by an </a:t>
            </a:r>
            <a:r>
              <a:rPr lang="en-US" sz="1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iterable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(something that can be evaluated repeatedly such as a list, string, or range).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200" b="1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defines the for loop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200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the variable defining the number of times the statements within the loop (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print(</a:t>
            </a:r>
            <a:r>
              <a:rPr lang="en-US" sz="1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myInt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are executed.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1200" b="1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range(start, stop, step)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 is often used to define x.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starting value is defined by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 final value is defined by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stop – 1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the magnitude at which x changes between loops is defined by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200" b="1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Boolean operator that returns true if the given value (x) is found within a given list, string, range etc.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121" name="Picture 1" descr="page9image5453804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411" y="1691639"/>
            <a:ext cx="3265890" cy="229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566410" y="2213227"/>
            <a:ext cx="4579913" cy="1676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input(“Enter a number: “)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lang="en-US" altLang="en-US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altLang="en-US" dirty="0">
                <a:solidFill>
                  <a:srgbClr val="4270C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</a:t>
            </a:r>
            <a:r>
              <a:rPr lang="en-US" altLang="en-US" dirty="0">
                <a:solidFill>
                  <a:srgbClr val="FFB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range(0, 5, 1): </a:t>
            </a:r>
            <a:endParaRPr lang="en-US" altLang="en-US" dirty="0">
              <a:solidFill>
                <a:srgbClr val="A0CC3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4572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print(</a:t>
            </a:r>
            <a:r>
              <a:rPr lang="en-US" altLang="en-US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myInt</a:t>
            </a:r>
            <a:r>
              <a:rPr lang="en-US" alt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endParaRPr lang="en-US" altLang="en-US" sz="3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5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age10image5464908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35" y="389824"/>
            <a:ext cx="3150665" cy="218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 Loops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806565" cy="3416400"/>
          </a:xfrm>
        </p:spPr>
        <p:txBody>
          <a:bodyPr/>
          <a:lstStyle/>
          <a:p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 loops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are statements that iterate so long as a given Boolean condition is met.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200" b="1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(the variable determining whether or not the condition is met) is defined and manipulated </a:t>
            </a:r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OUTSIDE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the header of the while loop (</a:t>
            </a:r>
            <a:r>
              <a:rPr lang="en-US" sz="1200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condition (</a:t>
            </a:r>
            <a:r>
              <a:rPr lang="en-US" sz="1200" b="1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 &lt; 5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is a statement containing a Boolean variable.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break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statement used to exit the current for/while loop.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continue </a:t>
            </a:r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statement used to reject all statements in the current for/while loop iteration and return to the beginning of the loop. </a:t>
            </a:r>
            <a:endParaRPr lang="en-US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  <p:pic>
        <p:nvPicPr>
          <p:cNvPr id="9217" name="Picture 1" descr="page10image608622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902" y="2719449"/>
            <a:ext cx="3170712" cy="220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81635" y="788289"/>
            <a:ext cx="29332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</a:rPr>
              <a:t>myString</a:t>
            </a:r>
            <a:r>
              <a:rPr lang="en-US" dirty="0">
                <a:latin typeface="Calibri" panose="020F0502020204030204" pitchFamily="34" charset="0"/>
              </a:rPr>
              <a:t> = input(“Enter a number: “) 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dirty="0" err="1">
                <a:latin typeface="Calibri" panose="020F0502020204030204" pitchFamily="34" charset="0"/>
              </a:rPr>
              <a:t>myInt</a:t>
            </a:r>
            <a:r>
              <a:rPr lang="en-US" dirty="0">
                <a:latin typeface="Calibri" panose="020F0502020204030204" pitchFamily="34" charset="0"/>
              </a:rPr>
              <a:t> = int(</a:t>
            </a:r>
            <a:r>
              <a:rPr lang="en-US" dirty="0" err="1">
                <a:latin typeface="Calibri" panose="020F0502020204030204" pitchFamily="34" charset="0"/>
              </a:rPr>
              <a:t>myString</a:t>
            </a:r>
            <a:r>
              <a:rPr lang="en-US" dirty="0">
                <a:latin typeface="Calibri" panose="020F0502020204030204" pitchFamily="34" charset="0"/>
              </a:rPr>
              <a:t>) </a:t>
            </a:r>
            <a:endParaRPr lang="en-US" dirty="0"/>
          </a:p>
          <a:p>
            <a:r>
              <a:rPr lang="en-US" dirty="0">
                <a:solidFill>
                  <a:srgbClr val="F8A81B"/>
                </a:solidFill>
                <a:latin typeface="Calibri" panose="020F0502020204030204" pitchFamily="34" charset="0"/>
              </a:rPr>
              <a:t>x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= 0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solidFill>
                  <a:srgbClr val="6091BA"/>
                </a:solidFill>
                <a:latin typeface="Calibri" panose="020F0502020204030204" pitchFamily="34" charset="0"/>
              </a:rPr>
              <a:t>while</a:t>
            </a:r>
            <a:r>
              <a:rPr lang="en-US" dirty="0">
                <a:solidFill>
                  <a:srgbClr val="4270C1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rgbClr val="A0CC3A"/>
                </a:solidFill>
                <a:latin typeface="Calibri" panose="020F0502020204030204" pitchFamily="34" charset="0"/>
              </a:rPr>
              <a:t>x &lt; 5</a:t>
            </a:r>
            <a:r>
              <a:rPr lang="en-US" dirty="0">
                <a:solidFill>
                  <a:srgbClr val="4270C1"/>
                </a:solidFill>
                <a:latin typeface="Calibri" panose="020F0502020204030204" pitchFamily="34" charset="0"/>
              </a:rPr>
              <a:t>: </a:t>
            </a:r>
            <a:endParaRPr lang="en-US" dirty="0"/>
          </a:p>
          <a:p>
            <a:r>
              <a:rPr lang="en-US" dirty="0">
                <a:latin typeface="Calibri" panose="020F0502020204030204" pitchFamily="34" charset="0"/>
              </a:rPr>
              <a:t>    print(</a:t>
            </a:r>
            <a:r>
              <a:rPr lang="en-US" dirty="0" err="1">
                <a:latin typeface="Calibri" panose="020F0502020204030204" pitchFamily="34" charset="0"/>
              </a:rPr>
              <a:t>myInt</a:t>
            </a:r>
            <a:r>
              <a:rPr lang="en-US" dirty="0">
                <a:latin typeface="Calibri" panose="020F0502020204030204" pitchFamily="34" charset="0"/>
              </a:rPr>
              <a:t>) 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</a:rPr>
              <a:t>    x= x +1 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6023</Words>
  <Application>WPS Presentation</Application>
  <PresentationFormat>On-screen Show (16:9)</PresentationFormat>
  <Paragraphs>187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Arial</vt:lpstr>
      <vt:lpstr>Open Sans</vt:lpstr>
      <vt:lpstr>Calibri</vt:lpstr>
      <vt:lpstr>Microsoft YaHei</vt:lpstr>
      <vt:lpstr>Arial Unicode MS</vt:lpstr>
      <vt:lpstr>Simple Light</vt:lpstr>
      <vt:lpstr>PowerPoint 演示文稿</vt:lpstr>
      <vt:lpstr>What is Python?</vt:lpstr>
      <vt:lpstr>Why Learn Python?</vt:lpstr>
      <vt:lpstr>Python in the Real World</vt:lpstr>
      <vt:lpstr>Key Features of Python</vt:lpstr>
      <vt:lpstr>Variables </vt:lpstr>
      <vt:lpstr>Creating Variables in Python </vt:lpstr>
      <vt:lpstr>Variable Naming Rules </vt:lpstr>
      <vt:lpstr>Changing Variable Values </vt:lpstr>
      <vt:lpstr>Multiple Variables </vt:lpstr>
      <vt:lpstr>Basic Syntax Rules  </vt:lpstr>
      <vt:lpstr>Basic Syntax Rules (cont.)</vt:lpstr>
      <vt:lpstr>Common Data Types and Operators</vt:lpstr>
      <vt:lpstr>Input/Output</vt:lpstr>
      <vt:lpstr>If-else Statements</vt:lpstr>
      <vt:lpstr>For Loops</vt:lpstr>
      <vt:lpstr>While Loops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Ellen Parrish</dc:creator>
  <cp:lastModifiedBy>Jexus Masilungan</cp:lastModifiedBy>
  <cp:revision>44</cp:revision>
  <dcterms:created xsi:type="dcterms:W3CDTF">2025-08-20T04:56:00Z</dcterms:created>
  <dcterms:modified xsi:type="dcterms:W3CDTF">2025-09-02T06:48:45Z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2ACE4497DFFD4A8EABD651D27BBD0F6C_12</vt:lpwstr>
  </property>
  <property fmtid="{D5CDD505-2E9C-101B-9397-08002B2CF9AE}" pid="3" name="KSOProductBuildVer">
    <vt:lpwstr>1033-12.2.0.22549</vt:lpwstr>
  </property>
</Properties>
</file>